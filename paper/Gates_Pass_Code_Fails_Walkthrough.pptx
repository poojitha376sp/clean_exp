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533" autoAdjust="0"/>
  </p:normalViewPr>
  <p:slideViewPr>
    <p:cSldViewPr snapToGrid="0" snapToObjects="1">
      <p:cViewPr varScale="1">
        <p:scale>
          <a:sx n="97" d="100"/>
          <a:sy n="97" d="100"/>
        </p:scale>
        <p:origin x="10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25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pipeline, "audit" refers to a specific step where a separate LLM looks at a generated test suite side-by-side with the real source code and judges, just by reading, whether the test's assumptions and assertions match what the real implementation actually does, without ever running the </a:t>
            </a:r>
            <a:r>
              <a:rPr lang="en-GB" dirty="0" err="1"/>
              <a:t>code.So</a:t>
            </a:r>
            <a:r>
              <a:rPr lang="en-GB" dirty="0"/>
              <a:t> it's purely a reading comprehension task for the LLM: "here's the test, here's the real class, do these line up?" It can say things like "this test assumes </a:t>
            </a:r>
            <a:r>
              <a:rPr lang="en-GB" dirty="0" err="1"/>
              <a:t>Document.new</a:t>
            </a:r>
            <a:r>
              <a:rPr lang="en-GB" dirty="0"/>
              <a:t>() takes 2 arguments, but the real code shows it needs 4, so this looks wrong" or "this assertion matches the real </a:t>
            </a:r>
            <a:r>
              <a:rPr lang="en-GB" dirty="0" err="1"/>
              <a:t>behavior</a:t>
            </a:r>
            <a:r>
              <a:rPr lang="en-GB" dirty="0"/>
              <a:t>, looks </a:t>
            </a:r>
            <a:r>
              <a:rPr lang="en-GB" dirty="0" err="1"/>
              <a:t>fine."That's</a:t>
            </a:r>
            <a:r>
              <a:rPr lang="en-GB" dirty="0"/>
              <a:t> different from execution, which actually runs the generated test against the real code and sees what the interpreter does, pass, fail, or crash. Execution is ground truth; audit is a second LLM's guess at ground truth, based on reading rather than </a:t>
            </a:r>
            <a:r>
              <a:rPr lang="en-GB" dirty="0" err="1"/>
              <a:t>running.The</a:t>
            </a:r>
            <a:r>
              <a:rPr lang="en-GB" dirty="0"/>
              <a:t> 18% number matters because audit is the only check available for 2 of the 3 case studies (ventilator and </a:t>
            </a:r>
            <a:r>
              <a:rPr lang="en-GB" dirty="0" err="1"/>
              <a:t>virtual_clinic</a:t>
            </a:r>
            <a:r>
              <a:rPr lang="en-GB" dirty="0"/>
              <a:t> never got real execution runs). Since audit only agrees with actual execution 18% of the time on the one case study where both exist (doorstop), that's a strong warning sign that the audit-based results reported for the other two case studies are probably not reliable either, there's just no execution data there to double-check them against.</a:t>
            </a:r>
            <a:br>
              <a:rPr lang="en-GB" dirty="0"/>
            </a:br>
            <a:br>
              <a:rPr lang="en-GB"/>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02920"/>
          </a:xfrm>
          <a:prstGeom prst="rect">
            <a:avLst/>
          </a:prstGeom>
          <a:noFill/>
          <a:ln/>
        </p:spPr>
        <p:txBody>
          <a:bodyPr wrap="square" lIns="0" tIns="0" rIns="0" bIns="0" rtlCol="0" anchor="ctr"/>
          <a:lstStyle/>
          <a:p>
            <a:pPr marL="0" indent="0">
              <a:buNone/>
            </a:pPr>
            <a:r>
              <a:rPr lang="en-US" sz="2500" b="1" dirty="0">
                <a:solidFill>
                  <a:srgbClr val="0E2A47"/>
                </a:solidFill>
                <a:latin typeface="Cambria" pitchFamily="34" charset="0"/>
                <a:ea typeface="Cambria" pitchFamily="34" charset="-122"/>
                <a:cs typeface="Cambria" pitchFamily="34" charset="-120"/>
              </a:rPr>
              <a:t>Results I: Model and Representation Comparison</a:t>
            </a:r>
            <a:endParaRPr lang="en-US" sz="2500" dirty="0"/>
          </a:p>
        </p:txBody>
      </p:sp>
      <p:sp>
        <p:nvSpPr>
          <p:cNvPr id="6" name="Text 4"/>
          <p:cNvSpPr txBox="1"/>
          <p:nvPr/>
        </p:nvSpPr>
        <p:spPr>
          <a:xfrm>
            <a:off x="804672" y="1444752"/>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Best model: Llama-3.1-8B (FSA 0.73, 100% both-gates pass on doorstop); weakest: CodeGemma-7B (FSA 0.47, 25% both-gates pass)</a:t>
            </a:r>
            <a:endParaRPr lang="en-US" sz="1250" dirty="0"/>
          </a:p>
        </p:txBody>
      </p:sp>
      <p:sp>
        <p:nvSpPr>
          <p:cNvPr id="8" name="Text 6"/>
          <p:cNvSpPr txBox="1"/>
          <p:nvPr/>
        </p:nvSpPr>
        <p:spPr>
          <a:xfrm>
            <a:off x="804672" y="2157984"/>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Model size doesn't predict test-design quality: essentially zero correlation</a:t>
            </a:r>
            <a:endParaRPr lang="en-US" sz="1250" dirty="0"/>
          </a:p>
        </p:txBody>
      </p:sp>
      <p:sp>
        <p:nvSpPr>
          <p:cNvPr id="10" name="Text 8"/>
          <p:cNvSpPr txBox="1"/>
          <p:nvPr/>
        </p:nvSpPr>
        <p:spPr>
          <a:xfrm>
            <a:off x="804672" y="2871216"/>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Code-specialized vs. general-purpose: FSA 0.58 vs 0.64 (not significant, p=0.14); MoE vs. dense: 0.59 vs 0.62, with no meaningful difference either way</a:t>
            </a:r>
            <a:endParaRPr lang="en-US" sz="1250" dirty="0"/>
          </a:p>
        </p:txBody>
      </p:sp>
      <p:sp>
        <p:nvSpPr>
          <p:cNvPr id="12" name="Text 10"/>
          <p:cNvSpPr txBox="1"/>
          <p:nvPr/>
        </p:nvSpPr>
        <p:spPr>
          <a:xfrm>
            <a:off x="804672" y="3584448"/>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Representation choice matters far more than model identity: both-gates pass rate swings from 64% down to near 0% depending on representation</a:t>
            </a:r>
            <a:endParaRPr lang="en-US" sz="1250" dirty="0"/>
          </a:p>
        </p:txBody>
      </p:sp>
      <p:sp>
        <p:nvSpPr>
          <p:cNvPr id="14" name="Text 12"/>
          <p:cNvSpPr txBox="1"/>
          <p:nvPr/>
        </p:nvSpPr>
        <p:spPr>
          <a:xfrm>
            <a:off x="804672" y="4297680"/>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Models default to about 5 familiar notations (Gherkin, xUnit, Use-Cases, Decision Tables, FSM) out of 30 available, reflecting trained habit rather than necessarily the best fit</a:t>
            </a:r>
            <a:endParaRPr lang="en-US" sz="1250" dirty="0"/>
          </a:p>
        </p:txBody>
      </p:sp>
      <p:sp>
        <p:nvSpPr>
          <p:cNvPr id="16" name="Text 14"/>
          <p:cNvSpPr txBox="1"/>
          <p:nvPr/>
        </p:nvSpPr>
        <p:spPr>
          <a:xfrm>
            <a:off x="804672" y="5010912"/>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Closed-loop repair genuinely helps: 207 of 496 suites repaired post-judgment, with a mean FSA gain of +0.131</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02920"/>
          </a:xfrm>
          <a:prstGeom prst="rect">
            <a:avLst/>
          </a:prstGeom>
          <a:noFill/>
          <a:ln/>
        </p:spPr>
        <p:txBody>
          <a:bodyPr wrap="square" lIns="0" tIns="0" rIns="0" bIns="0" rtlCol="0" anchor="ctr"/>
          <a:lstStyle/>
          <a:p>
            <a:pPr marL="0" indent="0">
              <a:buNone/>
            </a:pPr>
            <a:r>
              <a:rPr lang="en-US" sz="2500" b="1" dirty="0">
                <a:solidFill>
                  <a:srgbClr val="0E2A47"/>
                </a:solidFill>
                <a:latin typeface="Cambria" pitchFamily="34" charset="0"/>
                <a:ea typeface="Cambria" pitchFamily="34" charset="-122"/>
                <a:cs typeface="Cambria" pitchFamily="34" charset="-120"/>
              </a:rPr>
              <a:t>Results II: Validity Checks</a:t>
            </a:r>
            <a:endParaRPr lang="en-US" sz="2500" dirty="0"/>
          </a:p>
        </p:txBody>
      </p:sp>
      <p:sp>
        <p:nvSpPr>
          <p:cNvPr id="6" name="Text 4"/>
          <p:cNvSpPr txBox="1"/>
          <p:nvPr/>
        </p:nvSpPr>
        <p:spPr>
          <a:xfrm>
            <a:off x="868680" y="1691640"/>
            <a:ext cx="1417320" cy="1371600"/>
          </a:xfrm>
          <a:prstGeom prst="rect">
            <a:avLst/>
          </a:prstGeom>
          <a:noFill/>
          <a:ln/>
        </p:spPr>
        <p:txBody>
          <a:bodyPr wrap="square" lIns="0" tIns="0" rIns="0" bIns="0" rtlCol="0" anchor="t"/>
          <a:lstStyle/>
          <a:p>
            <a:pPr marL="0" indent="0">
              <a:buNone/>
            </a:pPr>
            <a:r>
              <a:rPr lang="en-US" sz="2700" b="1" dirty="0">
                <a:solidFill>
                  <a:srgbClr val="9C6B1F"/>
                </a:solidFill>
                <a:latin typeface="Cambria" pitchFamily="34" charset="0"/>
                <a:ea typeface="Cambria" pitchFamily="34" charset="-122"/>
                <a:cs typeface="Cambria" pitchFamily="34" charset="-120"/>
              </a:rPr>
              <a:t>18%</a:t>
            </a:r>
            <a:endParaRPr lang="en-US" sz="2700" dirty="0"/>
          </a:p>
        </p:txBody>
      </p:sp>
      <p:sp>
        <p:nvSpPr>
          <p:cNvPr id="7" name="Text 5"/>
          <p:cNvSpPr txBox="1"/>
          <p:nvPr/>
        </p:nvSpPr>
        <p:spPr>
          <a:xfrm>
            <a:off x="2377440" y="1709928"/>
            <a:ext cx="3581248" cy="1371600"/>
          </a:xfrm>
          <a:prstGeom prst="rect">
            <a:avLst/>
          </a:prstGeom>
          <a:noFill/>
          <a:ln/>
        </p:spPr>
        <p:txBody>
          <a:bodyPr wrap="square" lIns="0" tIns="0" rIns="0" bIns="0" rtlCol="0" anchor="t"/>
          <a:lstStyle/>
          <a:p>
            <a:pPr marL="0" indent="0">
              <a:lnSpc>
                <a:spcPct val="115000"/>
              </a:lnSpc>
              <a:buNone/>
            </a:pPr>
            <a:r>
              <a:rPr lang="en-US" sz="1150" dirty="0">
                <a:solidFill>
                  <a:srgbClr val="1A2733"/>
                </a:solidFill>
                <a:latin typeface="Calibri" pitchFamily="34" charset="0"/>
                <a:ea typeface="Calibri" pitchFamily="34" charset="-122"/>
                <a:cs typeface="Calibri" pitchFamily="34" charset="-120"/>
              </a:rPr>
              <a:t>agreement between the LLM-judge's code audit and real test execution (doorstop); the audit is close to useless as a ground-truth proxy</a:t>
            </a:r>
            <a:endParaRPr lang="en-US" sz="1150" dirty="0"/>
          </a:p>
        </p:txBody>
      </p:sp>
      <p:sp>
        <p:nvSpPr>
          <p:cNvPr id="8" name="Text 6"/>
          <p:cNvSpPr txBox="1"/>
          <p:nvPr/>
        </p:nvSpPr>
        <p:spPr>
          <a:xfrm>
            <a:off x="6233008" y="1691640"/>
            <a:ext cx="1417320" cy="1371600"/>
          </a:xfrm>
          <a:prstGeom prst="rect">
            <a:avLst/>
          </a:prstGeom>
          <a:noFill/>
          <a:ln/>
        </p:spPr>
        <p:txBody>
          <a:bodyPr wrap="square" lIns="0" tIns="0" rIns="0" bIns="0" rtlCol="0" anchor="t"/>
          <a:lstStyle/>
          <a:p>
            <a:pPr marL="0" indent="0">
              <a:buNone/>
            </a:pPr>
            <a:r>
              <a:rPr lang="en-US" sz="2700" b="1" dirty="0">
                <a:solidFill>
                  <a:srgbClr val="9C6B1F"/>
                </a:solidFill>
                <a:latin typeface="Cambria" pitchFamily="34" charset="0"/>
                <a:ea typeface="Cambria" pitchFamily="34" charset="-122"/>
                <a:cs typeface="Cambria" pitchFamily="34" charset="-120"/>
              </a:rPr>
              <a:t>1 to 2</a:t>
            </a:r>
            <a:endParaRPr lang="en-US" sz="2700" dirty="0"/>
          </a:p>
        </p:txBody>
      </p:sp>
      <p:sp>
        <p:nvSpPr>
          <p:cNvPr id="9" name="Text 7"/>
          <p:cNvSpPr txBox="1"/>
          <p:nvPr/>
        </p:nvSpPr>
        <p:spPr>
          <a:xfrm>
            <a:off x="7741768" y="1709928"/>
            <a:ext cx="3581248" cy="1371600"/>
          </a:xfrm>
          <a:prstGeom prst="rect">
            <a:avLst/>
          </a:prstGeom>
          <a:noFill/>
          <a:ln/>
        </p:spPr>
        <p:txBody>
          <a:bodyPr wrap="square" lIns="0" tIns="0" rIns="0" bIns="0" rtlCol="0" anchor="t"/>
          <a:lstStyle/>
          <a:p>
            <a:pPr marL="0" indent="0">
              <a:lnSpc>
                <a:spcPct val="115000"/>
              </a:lnSpc>
              <a:buNone/>
            </a:pPr>
            <a:r>
              <a:rPr lang="en-US" sz="1150" dirty="0">
                <a:solidFill>
                  <a:srgbClr val="1A2733"/>
                </a:solidFill>
                <a:latin typeface="Calibri" pitchFamily="34" charset="0"/>
                <a:ea typeface="Calibri" pitchFamily="34" charset="-122"/>
                <a:cs typeface="Calibri" pitchFamily="34" charset="-120"/>
              </a:rPr>
              <a:t>of 148 to 315 generated tests actually pass execution, near-zero real correctness despite suites clearing all 3 gates</a:t>
            </a:r>
            <a:endParaRPr lang="en-US" sz="1150" dirty="0"/>
          </a:p>
        </p:txBody>
      </p:sp>
      <p:sp>
        <p:nvSpPr>
          <p:cNvPr id="10" name="Text 8"/>
          <p:cNvSpPr txBox="1"/>
          <p:nvPr/>
        </p:nvSpPr>
        <p:spPr>
          <a:xfrm>
            <a:off x="868680" y="3291840"/>
            <a:ext cx="1417320" cy="1371600"/>
          </a:xfrm>
          <a:prstGeom prst="rect">
            <a:avLst/>
          </a:prstGeom>
          <a:noFill/>
          <a:ln/>
        </p:spPr>
        <p:txBody>
          <a:bodyPr wrap="square" lIns="0" tIns="0" rIns="0" bIns="0" rtlCol="0" anchor="t"/>
          <a:lstStyle/>
          <a:p>
            <a:pPr marL="0" indent="0">
              <a:buNone/>
            </a:pPr>
            <a:r>
              <a:rPr lang="en-US" sz="2700" b="1" dirty="0">
                <a:solidFill>
                  <a:srgbClr val="9C6B1F"/>
                </a:solidFill>
                <a:latin typeface="Cambria" pitchFamily="34" charset="0"/>
                <a:ea typeface="Cambria" pitchFamily="34" charset="-122"/>
                <a:cs typeface="Cambria" pitchFamily="34" charset="-120"/>
              </a:rPr>
              <a:t>20%</a:t>
            </a:r>
            <a:endParaRPr lang="en-US" sz="2700" dirty="0"/>
          </a:p>
        </p:txBody>
      </p:sp>
      <p:sp>
        <p:nvSpPr>
          <p:cNvPr id="11" name="Text 9"/>
          <p:cNvSpPr txBox="1"/>
          <p:nvPr/>
        </p:nvSpPr>
        <p:spPr>
          <a:xfrm>
            <a:off x="2377440" y="3310128"/>
            <a:ext cx="3581248" cy="1371600"/>
          </a:xfrm>
          <a:prstGeom prst="rect">
            <a:avLst/>
          </a:prstGeom>
          <a:noFill/>
          <a:ln/>
        </p:spPr>
        <p:txBody>
          <a:bodyPr wrap="square" lIns="0" tIns="0" rIns="0" bIns="0" rtlCol="0" anchor="t"/>
          <a:lstStyle/>
          <a:p>
            <a:pPr marL="0" indent="0">
              <a:lnSpc>
                <a:spcPct val="115000"/>
              </a:lnSpc>
              <a:buNone/>
            </a:pPr>
            <a:r>
              <a:rPr lang="en-US" sz="1150" dirty="0">
                <a:solidFill>
                  <a:srgbClr val="1A2733"/>
                </a:solidFill>
                <a:latin typeface="Calibri" pitchFamily="34" charset="0"/>
                <a:ea typeface="Calibri" pitchFamily="34" charset="-122"/>
                <a:cs typeface="Calibri" pitchFamily="34" charset="-120"/>
              </a:rPr>
              <a:t>overlap between a model's own representation choice and an independent suitability heuristic's picks</a:t>
            </a:r>
            <a:endParaRPr lang="en-US" sz="1150" dirty="0"/>
          </a:p>
        </p:txBody>
      </p:sp>
      <p:sp>
        <p:nvSpPr>
          <p:cNvPr id="12" name="Text 10"/>
          <p:cNvSpPr txBox="1"/>
          <p:nvPr/>
        </p:nvSpPr>
        <p:spPr>
          <a:xfrm>
            <a:off x="6233008" y="3291840"/>
            <a:ext cx="1417320" cy="1371600"/>
          </a:xfrm>
          <a:prstGeom prst="rect">
            <a:avLst/>
          </a:prstGeom>
          <a:noFill/>
          <a:ln/>
        </p:spPr>
        <p:txBody>
          <a:bodyPr wrap="square" lIns="0" tIns="0" rIns="0" bIns="0" rtlCol="0" anchor="t"/>
          <a:lstStyle/>
          <a:p>
            <a:pPr marL="0" indent="0">
              <a:buNone/>
            </a:pPr>
            <a:r>
              <a:rPr lang="en-US" sz="2700" b="1" dirty="0">
                <a:solidFill>
                  <a:srgbClr val="9C6B1F"/>
                </a:solidFill>
                <a:latin typeface="Cambria" pitchFamily="34" charset="0"/>
                <a:ea typeface="Cambria" pitchFamily="34" charset="-122"/>
                <a:cs typeface="Cambria" pitchFamily="34" charset="-120"/>
              </a:rPr>
              <a:t>49%</a:t>
            </a:r>
            <a:endParaRPr lang="en-US" sz="2700" dirty="0"/>
          </a:p>
        </p:txBody>
      </p:sp>
      <p:sp>
        <p:nvSpPr>
          <p:cNvPr id="13" name="Text 11"/>
          <p:cNvSpPr txBox="1"/>
          <p:nvPr/>
        </p:nvSpPr>
        <p:spPr>
          <a:xfrm>
            <a:off x="7741768" y="3310128"/>
            <a:ext cx="3581248" cy="1371600"/>
          </a:xfrm>
          <a:prstGeom prst="rect">
            <a:avLst/>
          </a:prstGeom>
          <a:noFill/>
          <a:ln/>
        </p:spPr>
        <p:txBody>
          <a:bodyPr wrap="square" lIns="0" tIns="0" rIns="0" bIns="0" rtlCol="0" anchor="t"/>
          <a:lstStyle/>
          <a:p>
            <a:pPr>
              <a:lnSpc>
                <a:spcPct val="115000"/>
              </a:lnSpc>
            </a:pPr>
            <a:r>
              <a:rPr lang="en-GB" sz="1150" dirty="0">
                <a:solidFill>
                  <a:srgbClr val="1A2733"/>
                </a:solidFill>
                <a:latin typeface="Calibri" pitchFamily="34" charset="0"/>
                <a:ea typeface="Calibri" pitchFamily="34" charset="-122"/>
                <a:cs typeface="Calibri" pitchFamily="34" charset="-120"/>
              </a:rPr>
              <a:t> Roughly half of all 496 suites include at least one made-up, ungrounded value, a number or detail the SRS never actually specified, but the model asserted anyway. Even some suites that technically pass Gate 3 still have more invented content than grounded content.</a:t>
            </a:r>
            <a:endParaRPr lang="en-US" sz="1150" dirty="0"/>
          </a:p>
        </p:txBody>
      </p:sp>
      <p:sp>
        <p:nvSpPr>
          <p:cNvPr id="14" name="Text 12"/>
          <p:cNvSpPr txBox="1"/>
          <p:nvPr/>
        </p:nvSpPr>
        <p:spPr>
          <a:xfrm>
            <a:off x="868680" y="4892040"/>
            <a:ext cx="1417320" cy="1371600"/>
          </a:xfrm>
          <a:prstGeom prst="rect">
            <a:avLst/>
          </a:prstGeom>
          <a:noFill/>
          <a:ln/>
        </p:spPr>
        <p:txBody>
          <a:bodyPr wrap="square" lIns="0" tIns="0" rIns="0" bIns="0" rtlCol="0" anchor="t"/>
          <a:lstStyle/>
          <a:p>
            <a:pPr marL="0" indent="0">
              <a:buNone/>
            </a:pPr>
            <a:r>
              <a:rPr lang="en-US" sz="2700" b="1" dirty="0">
                <a:solidFill>
                  <a:srgbClr val="9C6B1F"/>
                </a:solidFill>
                <a:latin typeface="Cambria" pitchFamily="34" charset="0"/>
                <a:ea typeface="Cambria" pitchFamily="34" charset="-122"/>
                <a:cs typeface="Cambria" pitchFamily="34" charset="-120"/>
              </a:rPr>
              <a:t>54%</a:t>
            </a:r>
            <a:endParaRPr lang="en-US" sz="2700" dirty="0"/>
          </a:p>
        </p:txBody>
      </p:sp>
      <p:sp>
        <p:nvSpPr>
          <p:cNvPr id="15" name="Text 13"/>
          <p:cNvSpPr txBox="1"/>
          <p:nvPr/>
        </p:nvSpPr>
        <p:spPr>
          <a:xfrm>
            <a:off x="2377440" y="4910328"/>
            <a:ext cx="3581248" cy="1371600"/>
          </a:xfrm>
          <a:prstGeom prst="rect">
            <a:avLst/>
          </a:prstGeom>
          <a:noFill/>
          <a:ln/>
        </p:spPr>
        <p:txBody>
          <a:bodyPr wrap="square" lIns="0" tIns="0" rIns="0" bIns="0" rtlCol="0" anchor="t"/>
          <a:lstStyle/>
          <a:p>
            <a:pPr>
              <a:lnSpc>
                <a:spcPct val="115000"/>
              </a:lnSpc>
            </a:pPr>
            <a:r>
              <a:rPr lang="en-GB" sz="1150" dirty="0">
                <a:solidFill>
                  <a:srgbClr val="1A2733"/>
                </a:solidFill>
                <a:latin typeface="Calibri" pitchFamily="34" charset="0"/>
                <a:ea typeface="Calibri" pitchFamily="34" charset="-122"/>
                <a:cs typeface="Calibri" pitchFamily="34" charset="-120"/>
              </a:rPr>
              <a:t> Even in the best case (the strongest model on the easiest case study), only 54% of the time do the generated tests actually line up with what's really implemented in the code. So even the best result is barely better than a coin flip.</a:t>
            </a:r>
            <a:endParaRPr lang="en-US" sz="1150" dirty="0"/>
          </a:p>
        </p:txBody>
      </p:sp>
      <p:sp>
        <p:nvSpPr>
          <p:cNvPr id="16" name="Text 14"/>
          <p:cNvSpPr txBox="1"/>
          <p:nvPr/>
        </p:nvSpPr>
        <p:spPr>
          <a:xfrm>
            <a:off x="6233008" y="4892040"/>
            <a:ext cx="1417320" cy="1371600"/>
          </a:xfrm>
          <a:prstGeom prst="rect">
            <a:avLst/>
          </a:prstGeom>
          <a:noFill/>
          <a:ln/>
        </p:spPr>
        <p:txBody>
          <a:bodyPr wrap="square" lIns="0" tIns="0" rIns="0" bIns="0" rtlCol="0" anchor="t"/>
          <a:lstStyle/>
          <a:p>
            <a:pPr marL="0" indent="0">
              <a:buNone/>
            </a:pPr>
            <a:r>
              <a:rPr lang="en-US" sz="2700" b="1" dirty="0">
                <a:solidFill>
                  <a:srgbClr val="9C6B1F"/>
                </a:solidFill>
                <a:latin typeface="Cambria" pitchFamily="34" charset="0"/>
                <a:ea typeface="Cambria" pitchFamily="34" charset="-122"/>
                <a:cs typeface="Cambria" pitchFamily="34" charset="-120"/>
              </a:rPr>
              <a:t>0.43</a:t>
            </a:r>
            <a:endParaRPr lang="en-US" sz="2700" dirty="0"/>
          </a:p>
        </p:txBody>
      </p:sp>
      <p:sp>
        <p:nvSpPr>
          <p:cNvPr id="17" name="Text 15"/>
          <p:cNvSpPr txBox="1"/>
          <p:nvPr/>
        </p:nvSpPr>
        <p:spPr>
          <a:xfrm>
            <a:off x="7741768" y="4910328"/>
            <a:ext cx="3581248" cy="1371600"/>
          </a:xfrm>
          <a:prstGeom prst="rect">
            <a:avLst/>
          </a:prstGeom>
          <a:noFill/>
          <a:ln/>
        </p:spPr>
        <p:txBody>
          <a:bodyPr wrap="square" lIns="0" tIns="0" rIns="0" bIns="0" rtlCol="0" anchor="t"/>
          <a:lstStyle/>
          <a:p>
            <a:pPr marL="0" indent="0">
              <a:lnSpc>
                <a:spcPct val="115000"/>
              </a:lnSpc>
              <a:buNone/>
            </a:pPr>
            <a:r>
              <a:rPr lang="en-US" sz="1150" dirty="0">
                <a:solidFill>
                  <a:srgbClr val="1A2733"/>
                </a:solidFill>
                <a:latin typeface="Calibri" pitchFamily="34" charset="0"/>
                <a:ea typeface="Calibri" pitchFamily="34" charset="-122"/>
                <a:cs typeface="Calibri" pitchFamily="34" charset="-120"/>
              </a:rPr>
              <a:t>correlation between FSA score and real execution pass rate (ρ, n=15); gates track reality weakly, not reliably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02920"/>
          </a:xfrm>
          <a:prstGeom prst="rect">
            <a:avLst/>
          </a:prstGeom>
          <a:noFill/>
          <a:ln/>
        </p:spPr>
        <p:txBody>
          <a:bodyPr wrap="square" lIns="0" tIns="0" rIns="0" bIns="0" rtlCol="0" anchor="ctr"/>
          <a:lstStyle/>
          <a:p>
            <a:pPr marL="0" indent="0">
              <a:buNone/>
            </a:pPr>
            <a:r>
              <a:rPr lang="en-US" sz="2500" b="1" dirty="0">
                <a:solidFill>
                  <a:srgbClr val="0E2A47"/>
                </a:solidFill>
                <a:latin typeface="Cambria" pitchFamily="34" charset="0"/>
                <a:ea typeface="Cambria" pitchFamily="34" charset="-122"/>
                <a:cs typeface="Cambria" pitchFamily="34" charset="-120"/>
              </a:rPr>
              <a:t>Why It Happens: Interface Mismatch, Not Bad Test Design</a:t>
            </a:r>
            <a:endParaRPr lang="en-US" sz="2500" dirty="0"/>
          </a:p>
        </p:txBody>
      </p:sp>
      <p:sp>
        <p:nvSpPr>
          <p:cNvPr id="5" name="Text 3"/>
          <p:cNvSpPr txBox="1"/>
          <p:nvPr/>
        </p:nvSpPr>
        <p:spPr>
          <a:xfrm>
            <a:off x="548640" y="1463040"/>
            <a:ext cx="5029200" cy="274320"/>
          </a:xfrm>
          <a:prstGeom prst="rect">
            <a:avLst/>
          </a:prstGeom>
          <a:noFill/>
          <a:ln/>
        </p:spPr>
        <p:txBody>
          <a:bodyPr wrap="square" lIns="0" tIns="0" rIns="0" bIns="0" rtlCol="0" anchor="ctr"/>
          <a:lstStyle/>
          <a:p>
            <a:pPr marL="0" indent="0">
              <a:buNone/>
            </a:pPr>
            <a:r>
              <a:rPr lang="en-US" sz="1200" b="1" kern="0" spc="50" dirty="0">
                <a:solidFill>
                  <a:srgbClr val="356170"/>
                </a:solidFill>
                <a:latin typeface="Calibri" pitchFamily="34" charset="0"/>
                <a:ea typeface="Calibri" pitchFamily="34" charset="-122"/>
                <a:cs typeface="Calibri" pitchFamily="34" charset="-120"/>
              </a:rPr>
              <a:t>FAILURE SIGNATURES (doorstop, all models)</a:t>
            </a:r>
            <a:endParaRPr lang="en-US" sz="1200" dirty="0"/>
          </a:p>
        </p:txBody>
      </p:sp>
      <p:sp>
        <p:nvSpPr>
          <p:cNvPr id="6" name="Shape 4"/>
          <p:cNvSpPr/>
          <p:nvPr/>
        </p:nvSpPr>
        <p:spPr>
          <a:xfrm>
            <a:off x="548640" y="1865376"/>
            <a:ext cx="128016" cy="128016"/>
          </a:xfrm>
          <a:prstGeom prst="ellipse">
            <a:avLst/>
          </a:prstGeom>
          <a:solidFill>
            <a:srgbClr val="356170"/>
          </a:solidFill>
          <a:ln/>
        </p:spPr>
      </p:sp>
      <p:sp>
        <p:nvSpPr>
          <p:cNvPr id="7" name="Text 5"/>
          <p:cNvSpPr txBox="1"/>
          <p:nvPr/>
        </p:nvSpPr>
        <p:spPr>
          <a:xfrm>
            <a:off x="804672" y="1737360"/>
            <a:ext cx="4773168" cy="50292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Document.new() raises TypeError in about 43 failures: wrong argument count or an unexpected keyword</a:t>
            </a:r>
            <a:endParaRPr lang="en-US" sz="1250" dirty="0"/>
          </a:p>
        </p:txBody>
      </p:sp>
      <p:sp>
        <p:nvSpPr>
          <p:cNvPr id="8" name="Shape 6"/>
          <p:cNvSpPr/>
          <p:nvPr/>
        </p:nvSpPr>
        <p:spPr>
          <a:xfrm>
            <a:off x="548640" y="2523744"/>
            <a:ext cx="128016" cy="128016"/>
          </a:xfrm>
          <a:prstGeom prst="ellipse">
            <a:avLst/>
          </a:prstGeom>
          <a:solidFill>
            <a:srgbClr val="356170"/>
          </a:solidFill>
          <a:ln/>
        </p:spPr>
      </p:sp>
      <p:sp>
        <p:nvSpPr>
          <p:cNvPr id="9" name="Text 7"/>
          <p:cNvSpPr txBox="1"/>
          <p:nvPr/>
        </p:nvSpPr>
        <p:spPr>
          <a:xfrm>
            <a:off x="804672" y="2395728"/>
            <a:ext cx="4773168" cy="50292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Tree.create_document() shows the same pattern in about 15 failures</a:t>
            </a:r>
            <a:endParaRPr lang="en-US" sz="1250" dirty="0"/>
          </a:p>
        </p:txBody>
      </p:sp>
      <p:sp>
        <p:nvSpPr>
          <p:cNvPr id="10" name="Shape 8"/>
          <p:cNvSpPr/>
          <p:nvPr/>
        </p:nvSpPr>
        <p:spPr>
          <a:xfrm>
            <a:off x="548640" y="3182112"/>
            <a:ext cx="128016" cy="128016"/>
          </a:xfrm>
          <a:prstGeom prst="ellipse">
            <a:avLst/>
          </a:prstGeom>
          <a:solidFill>
            <a:srgbClr val="356170"/>
          </a:solidFill>
          <a:ln/>
        </p:spPr>
      </p:sp>
      <p:sp>
        <p:nvSpPr>
          <p:cNvPr id="11" name="Text 9"/>
          <p:cNvSpPr txBox="1"/>
          <p:nvPr/>
        </p:nvSpPr>
        <p:spPr>
          <a:xfrm>
            <a:off x="804672" y="3054096"/>
            <a:ext cx="4773168" cy="50292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Tree.__init__() shows the same pattern in about 7 failures</a:t>
            </a:r>
            <a:endParaRPr lang="en-US" sz="1250" dirty="0"/>
          </a:p>
        </p:txBody>
      </p:sp>
      <p:sp>
        <p:nvSpPr>
          <p:cNvPr id="12" name="Shape 10"/>
          <p:cNvSpPr/>
          <p:nvPr/>
        </p:nvSpPr>
        <p:spPr>
          <a:xfrm>
            <a:off x="548640" y="3840480"/>
            <a:ext cx="128016" cy="128016"/>
          </a:xfrm>
          <a:prstGeom prst="ellipse">
            <a:avLst/>
          </a:prstGeom>
          <a:solidFill>
            <a:srgbClr val="356170"/>
          </a:solidFill>
          <a:ln/>
        </p:spPr>
      </p:sp>
      <p:sp>
        <p:nvSpPr>
          <p:cNvPr id="13" name="Text 11"/>
          <p:cNvSpPr txBox="1"/>
          <p:nvPr/>
        </p:nvSpPr>
        <p:spPr>
          <a:xfrm>
            <a:off x="804672" y="3712464"/>
            <a:ext cx="4773168" cy="50292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16 failures are whole-file ImportError: the test can't even be collected</a:t>
            </a:r>
            <a:endParaRPr lang="en-US" sz="1250" dirty="0"/>
          </a:p>
        </p:txBody>
      </p:sp>
      <p:sp>
        <p:nvSpPr>
          <p:cNvPr id="14" name="Shape 12"/>
          <p:cNvSpPr/>
          <p:nvPr/>
        </p:nvSpPr>
        <p:spPr>
          <a:xfrm>
            <a:off x="548640" y="4498848"/>
            <a:ext cx="128016" cy="128016"/>
          </a:xfrm>
          <a:prstGeom prst="ellipse">
            <a:avLst/>
          </a:prstGeom>
          <a:solidFill>
            <a:srgbClr val="356170"/>
          </a:solidFill>
          <a:ln/>
        </p:spPr>
      </p:sp>
      <p:sp>
        <p:nvSpPr>
          <p:cNvPr id="15" name="Text 13"/>
          <p:cNvSpPr txBox="1"/>
          <p:nvPr/>
        </p:nvSpPr>
        <p:spPr>
          <a:xfrm>
            <a:off x="804672" y="4370832"/>
            <a:ext cx="4773168" cy="50292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9 failures are AttributeError: a method called on the wrong assumed type</a:t>
            </a:r>
            <a:endParaRPr lang="en-US" sz="1250" dirty="0"/>
          </a:p>
        </p:txBody>
      </p:sp>
      <p:sp>
        <p:nvSpPr>
          <p:cNvPr id="17" name="Text 15"/>
          <p:cNvSpPr txBox="1"/>
          <p:nvPr/>
        </p:nvSpPr>
        <p:spPr>
          <a:xfrm>
            <a:off x="777240" y="5349240"/>
            <a:ext cx="4572000" cy="822960"/>
          </a:xfrm>
          <a:prstGeom prst="rect">
            <a:avLst/>
          </a:prstGeom>
          <a:noFill/>
          <a:ln/>
        </p:spPr>
        <p:txBody>
          <a:bodyPr wrap="square" lIns="0" tIns="0" rIns="0" bIns="0" rtlCol="0" anchor="ctr"/>
          <a:lstStyle/>
          <a:p>
            <a:pPr marL="0" indent="0">
              <a:lnSpc>
                <a:spcPct val="115000"/>
              </a:lnSpc>
              <a:buNone/>
            </a:pPr>
            <a:r>
              <a:rPr lang="en-US" sz="1250" i="1" dirty="0">
                <a:solidFill>
                  <a:srgbClr val="9C6B1F"/>
                </a:solidFill>
                <a:latin typeface="Cambria" pitchFamily="34" charset="0"/>
                <a:ea typeface="Cambria" pitchFamily="34" charset="-122"/>
                <a:cs typeface="Cambria" pitchFamily="34" charset="-120"/>
              </a:rPr>
              <a:t>The test suite is well-formed, requirement-aligned, and passes every gate; it just can't bind to the real class.</a:t>
            </a:r>
            <a:endParaRPr lang="en-US" sz="1250" dirty="0"/>
          </a:p>
        </p:txBody>
      </p:sp>
      <p:sp>
        <p:nvSpPr>
          <p:cNvPr id="18" name="Text 16"/>
          <p:cNvSpPr txBox="1"/>
          <p:nvPr/>
        </p:nvSpPr>
        <p:spPr>
          <a:xfrm>
            <a:off x="5897880" y="1463040"/>
            <a:ext cx="5760720" cy="256032"/>
          </a:xfrm>
          <a:prstGeom prst="rect">
            <a:avLst/>
          </a:prstGeom>
          <a:noFill/>
          <a:ln/>
        </p:spPr>
        <p:txBody>
          <a:bodyPr wrap="square" lIns="0" tIns="0" rIns="0" bIns="0" rtlCol="0" anchor="ctr"/>
          <a:lstStyle/>
          <a:p>
            <a:pPr marL="0" indent="0">
              <a:buNone/>
            </a:pPr>
            <a:r>
              <a:rPr lang="en-US" sz="1150" b="1" dirty="0">
                <a:solidFill>
                  <a:srgbClr val="356170"/>
                </a:solidFill>
                <a:latin typeface="Calibri" pitchFamily="34" charset="0"/>
                <a:ea typeface="Calibri" pitchFamily="34" charset="-122"/>
                <a:cs typeface="Calibri" pitchFamily="34" charset="-120"/>
              </a:rPr>
              <a:t>REAL SIGNATURE: doorstop/core/document.py</a:t>
            </a:r>
            <a:endParaRPr lang="en-US" sz="1150" dirty="0"/>
          </a:p>
        </p:txBody>
      </p:sp>
      <p:sp>
        <p:nvSpPr>
          <p:cNvPr id="20" name="Text 18"/>
          <p:cNvSpPr txBox="1"/>
          <p:nvPr/>
        </p:nvSpPr>
        <p:spPr>
          <a:xfrm>
            <a:off x="6126480" y="1847088"/>
            <a:ext cx="5303520" cy="1188720"/>
          </a:xfrm>
          <a:prstGeom prst="rect">
            <a:avLst/>
          </a:prstGeom>
          <a:noFill/>
          <a:ln/>
        </p:spPr>
        <p:txBody>
          <a:bodyPr wrap="square" lIns="0" tIns="0" rIns="0" bIns="0" rtlCol="0" anchor="ctr"/>
          <a:lstStyle/>
          <a:p>
            <a:pPr marL="0" indent="0">
              <a:lnSpc>
                <a:spcPct val="105000"/>
              </a:lnSpc>
              <a:buNone/>
            </a:pPr>
            <a:r>
              <a:rPr lang="en-US" sz="1250" dirty="0">
                <a:solidFill>
                  <a:srgbClr val="1F5C4D"/>
                </a:solidFill>
                <a:latin typeface="Courier New" pitchFamily="34" charset="0"/>
                <a:ea typeface="Courier New" pitchFamily="34" charset="-122"/>
                <a:cs typeface="Courier New" pitchFamily="34" charset="-120"/>
              </a:rPr>
              <a:t>@staticmethod</a:t>
            </a:r>
            <a:endParaRPr lang="en-US" sz="1250" dirty="0"/>
          </a:p>
          <a:p>
            <a:pPr marL="0" indent="0">
              <a:lnSpc>
                <a:spcPct val="105000"/>
              </a:lnSpc>
              <a:buNone/>
            </a:pPr>
            <a:r>
              <a:rPr lang="en-US" sz="1250" dirty="0">
                <a:solidFill>
                  <a:srgbClr val="1F5C4D"/>
                </a:solidFill>
                <a:latin typeface="Courier New" pitchFamily="34" charset="0"/>
                <a:ea typeface="Courier New" pitchFamily="34" charset="-122"/>
                <a:cs typeface="Courier New" pitchFamily="34" charset="-120"/>
              </a:rPr>
              <a:t>@add_document</a:t>
            </a:r>
            <a:endParaRPr lang="en-US" sz="1250" dirty="0"/>
          </a:p>
          <a:p>
            <a:pPr marL="0" indent="0">
              <a:lnSpc>
                <a:spcPct val="105000"/>
              </a:lnSpc>
              <a:buNone/>
            </a:pPr>
            <a:r>
              <a:rPr lang="en-US" sz="1250" dirty="0">
                <a:solidFill>
                  <a:srgbClr val="1F5C4D"/>
                </a:solidFill>
                <a:latin typeface="Courier New" pitchFamily="34" charset="0"/>
                <a:ea typeface="Courier New" pitchFamily="34" charset="-122"/>
                <a:cs typeface="Courier New" pitchFamily="34" charset="-120"/>
              </a:rPr>
              <a:t>def new(tree, path, root, prefix,</a:t>
            </a:r>
            <a:endParaRPr lang="en-US" sz="1250" dirty="0"/>
          </a:p>
          <a:p>
            <a:pPr marL="0" indent="0">
              <a:lnSpc>
                <a:spcPct val="105000"/>
              </a:lnSpc>
              <a:buNone/>
            </a:pPr>
            <a:r>
              <a:rPr lang="en-US" sz="1250" dirty="0">
                <a:solidFill>
                  <a:srgbClr val="1F5C4D"/>
                </a:solidFill>
                <a:latin typeface="Courier New" pitchFamily="34" charset="0"/>
                <a:ea typeface="Courier New" pitchFamily="34" charset="-122"/>
                <a:cs typeface="Courier New" pitchFamily="34" charset="-120"/>
              </a:rPr>
              <a:t>        sep=None, digits=None,</a:t>
            </a:r>
            <a:endParaRPr lang="en-US" sz="1250" dirty="0"/>
          </a:p>
          <a:p>
            <a:pPr marL="0" indent="0">
              <a:lnSpc>
                <a:spcPct val="105000"/>
              </a:lnSpc>
              <a:buNone/>
            </a:pPr>
            <a:r>
              <a:rPr lang="en-US" sz="1250" dirty="0">
                <a:solidFill>
                  <a:srgbClr val="1F5C4D"/>
                </a:solidFill>
                <a:latin typeface="Courier New" pitchFamily="34" charset="0"/>
                <a:ea typeface="Courier New" pitchFamily="34" charset="-122"/>
                <a:cs typeface="Courier New" pitchFamily="34" charset="-120"/>
              </a:rPr>
              <a:t>        parent=None, auto=None,</a:t>
            </a:r>
            <a:endParaRPr lang="en-US" sz="1250" dirty="0"/>
          </a:p>
          <a:p>
            <a:pPr marL="0" indent="0">
              <a:lnSpc>
                <a:spcPct val="105000"/>
              </a:lnSpc>
              <a:buNone/>
            </a:pPr>
            <a:r>
              <a:rPr lang="en-US" sz="1250" dirty="0">
                <a:solidFill>
                  <a:srgbClr val="1F5C4D"/>
                </a:solidFill>
                <a:latin typeface="Courier New" pitchFamily="34" charset="0"/>
                <a:ea typeface="Courier New" pitchFamily="34" charset="-122"/>
                <a:cs typeface="Courier New" pitchFamily="34" charset="-120"/>
              </a:rPr>
              <a:t>        itemformat=None):</a:t>
            </a:r>
            <a:endParaRPr lang="en-US" sz="1250" dirty="0"/>
          </a:p>
        </p:txBody>
      </p:sp>
      <p:sp>
        <p:nvSpPr>
          <p:cNvPr id="21" name="Text 19"/>
          <p:cNvSpPr txBox="1"/>
          <p:nvPr/>
        </p:nvSpPr>
        <p:spPr>
          <a:xfrm>
            <a:off x="5897880" y="3337560"/>
            <a:ext cx="5760720" cy="256032"/>
          </a:xfrm>
          <a:prstGeom prst="rect">
            <a:avLst/>
          </a:prstGeom>
          <a:noFill/>
          <a:ln/>
        </p:spPr>
        <p:txBody>
          <a:bodyPr wrap="square" lIns="0" tIns="0" rIns="0" bIns="0" rtlCol="0" anchor="ctr"/>
          <a:lstStyle/>
          <a:p>
            <a:pPr marL="0" indent="0">
              <a:buNone/>
            </a:pPr>
            <a:r>
              <a:rPr lang="en-US" sz="1150" b="1" dirty="0">
                <a:solidFill>
                  <a:srgbClr val="356170"/>
                </a:solidFill>
                <a:latin typeface="Calibri" pitchFamily="34" charset="0"/>
                <a:ea typeface="Calibri" pitchFamily="34" charset="-122"/>
                <a:cs typeface="Calibri" pitchFamily="34" charset="-120"/>
              </a:rPr>
              <a:t>GENERATED: CodeGemma-7B, test_U01_2_Decision_Tables_0.py</a:t>
            </a:r>
            <a:endParaRPr lang="en-US" sz="1150" dirty="0"/>
          </a:p>
        </p:txBody>
      </p:sp>
      <p:sp>
        <p:nvSpPr>
          <p:cNvPr id="23" name="Text 21"/>
          <p:cNvSpPr txBox="1"/>
          <p:nvPr/>
        </p:nvSpPr>
        <p:spPr>
          <a:xfrm>
            <a:off x="6126480" y="3721608"/>
            <a:ext cx="5303520" cy="731520"/>
          </a:xfrm>
          <a:prstGeom prst="rect">
            <a:avLst/>
          </a:prstGeom>
          <a:noFill/>
          <a:ln/>
        </p:spPr>
        <p:txBody>
          <a:bodyPr wrap="square" lIns="0" tIns="0" rIns="0" bIns="0" rtlCol="0" anchor="ctr"/>
          <a:lstStyle/>
          <a:p>
            <a:pPr marL="0" indent="0">
              <a:lnSpc>
                <a:spcPct val="105000"/>
              </a:lnSpc>
              <a:buNone/>
            </a:pPr>
            <a:r>
              <a:rPr lang="en-US" sz="1250" dirty="0">
                <a:solidFill>
                  <a:srgbClr val="8A2E2E"/>
                </a:solidFill>
                <a:latin typeface="Courier New" pitchFamily="34" charset="0"/>
                <a:ea typeface="Courier New" pitchFamily="34" charset="-122"/>
                <a:cs typeface="Courier New" pitchFamily="34" charset="-120"/>
              </a:rPr>
              <a:t>doc = Document.new(</a:t>
            </a:r>
            <a:endParaRPr lang="en-US" sz="1250" dirty="0"/>
          </a:p>
          <a:p>
            <a:pPr marL="0" indent="0">
              <a:lnSpc>
                <a:spcPct val="105000"/>
              </a:lnSpc>
              <a:buNone/>
            </a:pPr>
            <a:r>
              <a:rPr lang="en-US" sz="1250" dirty="0">
                <a:solidFill>
                  <a:srgbClr val="8A2E2E"/>
                </a:solidFill>
                <a:latin typeface="Courier New" pitchFamily="34" charset="0"/>
                <a:ea typeface="Courier New" pitchFamily="34" charset="-122"/>
                <a:cs typeface="Courier New" pitchFamily="34" charset="-120"/>
              </a:rPr>
              <a:t>    doc_path, prefix=prefix</a:t>
            </a:r>
            <a:endParaRPr lang="en-US" sz="1250" dirty="0"/>
          </a:p>
          <a:p>
            <a:pPr marL="0" indent="0">
              <a:lnSpc>
                <a:spcPct val="105000"/>
              </a:lnSpc>
              <a:buNone/>
            </a:pPr>
            <a:r>
              <a:rPr lang="en-US" sz="1250" dirty="0">
                <a:solidFill>
                  <a:srgbClr val="8A2E2E"/>
                </a:solidFill>
                <a:latin typeface="Courier New" pitchFamily="34" charset="0"/>
                <a:ea typeface="Courier New" pitchFamily="34" charset="-122"/>
                <a:cs typeface="Courier New" pitchFamily="34" charset="-120"/>
              </a:rPr>
              <a:t>)   # no tree, no root</a:t>
            </a:r>
            <a:endParaRPr lang="en-US" sz="1250" dirty="0"/>
          </a:p>
        </p:txBody>
      </p:sp>
      <p:sp>
        <p:nvSpPr>
          <p:cNvPr id="24" name="Text 22"/>
          <p:cNvSpPr txBox="1"/>
          <p:nvPr/>
        </p:nvSpPr>
        <p:spPr>
          <a:xfrm>
            <a:off x="5897880" y="4663440"/>
            <a:ext cx="5760720" cy="1188720"/>
          </a:xfrm>
          <a:prstGeom prst="rect">
            <a:avLst/>
          </a:prstGeom>
          <a:noFill/>
          <a:ln/>
        </p:spPr>
        <p:txBody>
          <a:bodyPr wrap="square" lIns="0" tIns="0" rIns="0" bIns="0" rtlCol="0" anchor="ctr"/>
          <a:lstStyle/>
          <a:p>
            <a:pPr marL="0" indent="0">
              <a:lnSpc>
                <a:spcPct val="120000"/>
              </a:lnSpc>
              <a:buNone/>
            </a:pPr>
            <a:r>
              <a:rPr lang="en-US" sz="1150" i="1" dirty="0">
                <a:solidFill>
                  <a:srgbClr val="1A2733"/>
                </a:solidFill>
                <a:latin typeface="Calibri" pitchFamily="34" charset="0"/>
                <a:ea typeface="Calibri" pitchFamily="34" charset="-122"/>
                <a:cs typeface="Calibri" pitchFamily="34" charset="-120"/>
              </a:rPr>
              <a:t>An SRS can describe behavior and intent. It cannot describe argument count, order, keyword-vs-positional, or a hidden dependency on another object (tree); those are implementation decisions, not requirements. The model's guess is a reasonable, idiomatic pattern match, just about a fact the SRS never claimed to contain.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02920"/>
          </a:xfrm>
          <a:prstGeom prst="rect">
            <a:avLst/>
          </a:prstGeom>
          <a:noFill/>
          <a:ln/>
        </p:spPr>
        <p:txBody>
          <a:bodyPr wrap="square" lIns="0" tIns="0" rIns="0" bIns="0" rtlCol="0" anchor="ctr"/>
          <a:lstStyle/>
          <a:p>
            <a:pPr marL="0" indent="0">
              <a:buNone/>
            </a:pPr>
            <a:r>
              <a:rPr lang="en-US" sz="2500" b="1" dirty="0">
                <a:solidFill>
                  <a:srgbClr val="0E2A47"/>
                </a:solidFill>
                <a:latin typeface="Cambria" pitchFamily="34" charset="0"/>
                <a:ea typeface="Cambria" pitchFamily="34" charset="-122"/>
                <a:cs typeface="Cambria" pitchFamily="34" charset="-120"/>
              </a:rPr>
              <a:t>Repair Cycles Are Already Included, and Still Don't Close the Gap</a:t>
            </a:r>
            <a:endParaRPr lang="en-US" sz="2500" dirty="0"/>
          </a:p>
        </p:txBody>
      </p:sp>
      <p:sp>
        <p:nvSpPr>
          <p:cNvPr id="5" name="Shape 3"/>
          <p:cNvSpPr/>
          <p:nvPr/>
        </p:nvSpPr>
        <p:spPr>
          <a:xfrm>
            <a:off x="548640" y="1572768"/>
            <a:ext cx="128016" cy="128016"/>
          </a:xfrm>
          <a:prstGeom prst="ellipse">
            <a:avLst/>
          </a:prstGeom>
          <a:solidFill>
            <a:srgbClr val="356170"/>
          </a:solidFill>
          <a:ln/>
        </p:spPr>
      </p:sp>
      <p:sp>
        <p:nvSpPr>
          <p:cNvPr id="6" name="Text 4"/>
          <p:cNvSpPr txBox="1"/>
          <p:nvPr/>
        </p:nvSpPr>
        <p:spPr>
          <a:xfrm>
            <a:off x="804672" y="1444752"/>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305 of 496 suites (61.5%) used all 3 allowed repair rounds; the large majority needed the maximum</a:t>
            </a:r>
            <a:endParaRPr lang="en-US" sz="1250" dirty="0"/>
          </a:p>
        </p:txBody>
      </p:sp>
      <p:sp>
        <p:nvSpPr>
          <p:cNvPr id="7" name="Shape 5"/>
          <p:cNvSpPr/>
          <p:nvPr/>
        </p:nvSpPr>
        <p:spPr>
          <a:xfrm>
            <a:off x="548640" y="2322576"/>
            <a:ext cx="128016" cy="128016"/>
          </a:xfrm>
          <a:prstGeom prst="ellipse">
            <a:avLst/>
          </a:prstGeom>
          <a:solidFill>
            <a:srgbClr val="356170"/>
          </a:solidFill>
          <a:ln/>
        </p:spPr>
      </p:sp>
      <p:sp>
        <p:nvSpPr>
          <p:cNvPr id="8" name="Text 6"/>
          <p:cNvSpPr txBox="1"/>
          <p:nvPr/>
        </p:nvSpPr>
        <p:spPr>
          <a:xfrm>
            <a:off x="804672" y="2194560"/>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Mean FSA rises from 0.586 (first attempt) to 0.673 (final, reported): repair is real, a +0.131 gain on the 207 suites it applied to</a:t>
            </a:r>
            <a:endParaRPr lang="en-US" sz="1250" dirty="0"/>
          </a:p>
        </p:txBody>
      </p:sp>
      <p:sp>
        <p:nvSpPr>
          <p:cNvPr id="9" name="Shape 7"/>
          <p:cNvSpPr/>
          <p:nvPr/>
        </p:nvSpPr>
        <p:spPr>
          <a:xfrm>
            <a:off x="548640" y="3072384"/>
            <a:ext cx="128016" cy="128016"/>
          </a:xfrm>
          <a:prstGeom prst="ellipse">
            <a:avLst/>
          </a:prstGeom>
          <a:solidFill>
            <a:srgbClr val="356170"/>
          </a:solidFill>
          <a:ln/>
        </p:spPr>
      </p:sp>
      <p:sp>
        <p:nvSpPr>
          <p:cNvPr id="10" name="Text 8"/>
          <p:cNvSpPr txBox="1"/>
          <p:nvPr/>
        </p:nvSpPr>
        <p:spPr>
          <a:xfrm>
            <a:off x="804672" y="2944368"/>
            <a:ext cx="10838383" cy="548640"/>
          </a:xfrm>
          <a:prstGeom prst="rect">
            <a:avLst/>
          </a:prstGeom>
          <a:noFill/>
          <a:ln/>
        </p:spPr>
        <p:txBody>
          <a:bodyPr wrap="square" lIns="0" tIns="0" rIns="0" bIns="0" rtlCol="0" anchor="t"/>
          <a:lstStyle/>
          <a:p>
            <a:pPr marL="0" indent="0">
              <a:lnSpc>
                <a:spcPct val="112000"/>
              </a:lnSpc>
              <a:buNone/>
            </a:pPr>
            <a:r>
              <a:rPr lang="en-US" sz="1250" dirty="0">
                <a:solidFill>
                  <a:srgbClr val="1A2733"/>
                </a:solidFill>
                <a:latin typeface="Calibri" pitchFamily="34" charset="0"/>
                <a:ea typeface="Calibri" pitchFamily="34" charset="-122"/>
                <a:cs typeface="Calibri" pitchFamily="34" charset="-120"/>
              </a:rPr>
              <a:t>68% of the doorstop suites with execution data had already been through at least one repair round before being run; only 1 to 2 tests passing is the system's best self-corrected attempt, not a first draft</a:t>
            </a:r>
            <a:endParaRPr lang="en-US" sz="1250" dirty="0"/>
          </a:p>
        </p:txBody>
      </p:sp>
      <p:sp>
        <p:nvSpPr>
          <p:cNvPr id="11" name="Text 9"/>
          <p:cNvSpPr txBox="1"/>
          <p:nvPr/>
        </p:nvSpPr>
        <p:spPr>
          <a:xfrm>
            <a:off x="548640" y="3877056"/>
            <a:ext cx="11094415" cy="868680"/>
          </a:xfrm>
          <a:prstGeom prst="rect">
            <a:avLst/>
          </a:prstGeom>
          <a:noFill/>
          <a:ln/>
        </p:spPr>
        <p:txBody>
          <a:bodyPr wrap="square" lIns="0" tIns="0" rIns="0" bIns="0" rtlCol="0" anchor="ctr"/>
          <a:lstStyle/>
          <a:p>
            <a:pPr marL="0" indent="0">
              <a:lnSpc>
                <a:spcPct val="120000"/>
              </a:lnSpc>
              <a:buNone/>
            </a:pPr>
            <a:r>
              <a:rPr lang="en-US" sz="1200" b="1" dirty="0">
                <a:solidFill>
                  <a:srgbClr val="0E2A47"/>
                </a:solidFill>
                <a:latin typeface="Calibri" pitchFamily="34" charset="0"/>
                <a:ea typeface="Calibri" pitchFamily="34" charset="-122"/>
                <a:cs typeface="Calibri" pitchFamily="34" charset="-120"/>
              </a:rPr>
              <a:t>Why repair can't close it:  </a:t>
            </a:r>
            <a:r>
              <a:rPr lang="en-US" sz="1200" dirty="0">
                <a:solidFill>
                  <a:srgbClr val="1A2733"/>
                </a:solidFill>
                <a:latin typeface="Calibri" pitchFamily="34" charset="0"/>
                <a:ea typeface="Calibri" pitchFamily="34" charset="-122"/>
                <a:cs typeface="Calibri" pitchFamily="34" charset="-120"/>
              </a:rPr>
              <a:t>the feedback sent back on a failed attempt is entirely SRS-grounded: uncovered clauses, hallucinated values, missing negative or boundary cases. It never contains real interface information, because the repair loop runs before execution and obeys the same leakage rule as generation. It can fix “you forgot the negative case.” It cannot fix “you called Document.new() with the wrong signature,” because that fact never enters the loop.</a:t>
            </a:r>
            <a:endParaRPr lang="en-US" sz="1200" dirty="0"/>
          </a:p>
        </p:txBody>
      </p:sp>
      <p:sp>
        <p:nvSpPr>
          <p:cNvPr id="13" name="Text 11"/>
          <p:cNvSpPr txBox="1"/>
          <p:nvPr/>
        </p:nvSpPr>
        <p:spPr>
          <a:xfrm>
            <a:off x="822960" y="5020056"/>
            <a:ext cx="10545775" cy="868680"/>
          </a:xfrm>
          <a:prstGeom prst="rect">
            <a:avLst/>
          </a:prstGeom>
          <a:noFill/>
          <a:ln/>
        </p:spPr>
        <p:txBody>
          <a:bodyPr wrap="square" lIns="0" tIns="0" rIns="0" bIns="0" rtlCol="0" anchor="ctr"/>
          <a:lstStyle/>
          <a:p>
            <a:pPr marL="0" indent="0">
              <a:lnSpc>
                <a:spcPct val="120000"/>
              </a:lnSpc>
              <a:buNone/>
            </a:pPr>
            <a:r>
              <a:rPr lang="en-US" sz="1400" b="1" dirty="0">
                <a:solidFill>
                  <a:srgbClr val="9C6B1F"/>
                </a:solidFill>
                <a:latin typeface="Cambria" pitchFamily="34" charset="0"/>
                <a:ea typeface="Cambria" pitchFamily="34" charset="-122"/>
                <a:cs typeface="Cambria" pitchFamily="34" charset="-120"/>
              </a:rPr>
              <a:t>The reframe:  </a:t>
            </a:r>
            <a:r>
              <a:rPr lang="en-US" sz="1400" dirty="0">
                <a:solidFill>
                  <a:srgbClr val="1A2733"/>
                </a:solidFill>
                <a:latin typeface="Cambria" pitchFamily="34" charset="0"/>
                <a:ea typeface="Cambria" pitchFamily="34" charset="-122"/>
                <a:cs typeface="Cambria" pitchFamily="34" charset="-120"/>
              </a:rPr>
              <a:t>not “here's a leaderboard,” but “here's how much an LLM-judge pipeline overestimates correctness, measured precisely, and where it's worst.” The system tried to fix itself, succeeded by its own metric, and that success didn't transfer to reality.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1106</Words>
  <Application>Microsoft Office PowerPoint</Application>
  <PresentationFormat>Widescreen</PresentationFormat>
  <Paragraphs>51</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vector>
  </TitlesOfParts>
  <Company>SERC, IIIT Hyderabad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Gates Pass, Code Fails: Research Walkthrough</dc:title>
  <dc:subject>PptxGenJS Presentation</dc:subject>
  <dc:creator>Poojitha J</dc:creator>
  <cp:lastModifiedBy>Poojitha J</cp:lastModifiedBy>
  <cp:revision>5</cp:revision>
  <dcterms:created xsi:type="dcterms:W3CDTF">2026-10-29T03:18:19Z</dcterms:created>
  <dcterms:modified xsi:type="dcterms:W3CDTF">2026-10-29T03:49:35Z</dcterms:modified>
</cp:coreProperties>
</file>