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A957F2A-3A9C-4E2B-BCD6-B37A8FAF59B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C3A3AE-9296-4D9E-B677-8A7AF00F84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550AA-95A8-4609-ABC4-223F979894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41B396-C656-4F0E-84EC-1D40AFA4BD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47B364-F9E0-44D2-BDC0-098946EA5CE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321040" y="4754880"/>
            <a:ext cx="36540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5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6BC93CC-0D7D-45B6-BE83-595887C93F75}" type="slidenum">
              <a:rPr b="0" lang="en-US" sz="1000" spc="-1" strike="noStrike">
                <a:solidFill>
                  <a:schemeClr val="accent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2"/>
                </a:solidFill>
                <a:latin typeface="Cambria"/>
              </a:rPr>
              <a:t>Template 1: YAML ground truth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457200" y="1097280"/>
            <a:ext cx="5211720" cy="86832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40080" y="120708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Core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40080" y="15087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Common fields per cell: preconditions, steps with an expected result each, test_data, expected_result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457200" y="2121480"/>
            <a:ext cx="5211720" cy="86832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640080" y="223128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Dimensions D1–D4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40080" y="25329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Fields per dimension: flow and input class (D1), interaction (D2), failure (D3), metric and threshold (D4)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457200" y="3145680"/>
            <a:ext cx="5211720" cy="86832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080" y="325512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Inventory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640080" y="35571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One line per cell with req_refs. This is the denominator for coverage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57200" y="420624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Joined by cell_id, e.g. </a:t>
            </a:r>
            <a:r>
              <a:rPr b="0" lang="en-US" sz="1200" spc="-1" strike="noStrike">
                <a:solidFill>
                  <a:schemeClr val="accent2"/>
                </a:solidFill>
                <a:latin typeface="Courier New"/>
                <a:ea typeface="Courier New"/>
              </a:rPr>
              <a:t>E2E.F01.web-ui.negative.add-duplicate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035040" y="105156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accent1"/>
                </a:solidFill>
                <a:latin typeface="Cambria"/>
                <a:ea typeface="Cambria"/>
              </a:rPr>
              <a:t>189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6035040" y="18745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5"/>
                </a:solidFill>
                <a:latin typeface="Calibri"/>
              </a:rPr>
              <a:t>cover cells, each one test coverage item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035040" y="25146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D1 End-to-end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8046720" y="25146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104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6035040" y="29718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D2 Interaction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8046720" y="29718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24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6035040" y="34290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D3 Environment failure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8046720" y="34290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24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6035040" y="38862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D4 Quality attributes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8046720" y="3886200"/>
            <a:ext cx="63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Calibri"/>
              </a:rPr>
              <a:t>37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5"/>
          </p:nvPr>
        </p:nvSpPr>
        <p:spPr>
          <a:xfrm>
            <a:off x="8321040" y="4754880"/>
            <a:ext cx="36540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5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F406E62-CBAA-4B7C-B4D8-ABEF3665FF92}" type="slidenum">
              <a:rPr b="0" lang="en-US" sz="1000" spc="-1" strike="noStrike">
                <a:solidFill>
                  <a:schemeClr val="accent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2"/>
                </a:solidFill>
                <a:latin typeface="Cambria"/>
              </a:rPr>
              <a:t>How a YAML cell is built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57200" y="10058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The cell_id says what the cell covers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417320"/>
            <a:ext cx="4114440" cy="51156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594360" y="1417320"/>
            <a:ext cx="3654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D1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960120" y="1417320"/>
            <a:ext cx="548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ourier New"/>
                <a:ea typeface="Courier New"/>
              </a:rPr>
              <a:t>E2E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1554480" y="141732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flow . interface . input class . name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457200" y="2020680"/>
            <a:ext cx="4114440" cy="51156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594360" y="2020680"/>
            <a:ext cx="3654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D2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960120" y="2020680"/>
            <a:ext cx="548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ourier New"/>
                <a:ea typeface="Courier New"/>
              </a:rPr>
              <a:t>INT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1554480" y="202068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req A . req B . dependency type . variant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457200" y="2624400"/>
            <a:ext cx="4114440" cy="51156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594360" y="2624400"/>
            <a:ext cx="3654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D3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960120" y="2624400"/>
            <a:ext cx="548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ourier New"/>
                <a:ea typeface="Courier New"/>
              </a:rPr>
              <a:t>ENV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1554480" y="262440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dependency . failure type . phase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457200" y="3227760"/>
            <a:ext cx="4114440" cy="51156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594360" y="3227760"/>
            <a:ext cx="3654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D4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960120" y="3227760"/>
            <a:ext cx="548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accent2"/>
                </a:solidFill>
                <a:latin typeface="Courier New"/>
                <a:ea typeface="Courier New"/>
              </a:rPr>
              <a:t>QUA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1554480" y="3227760"/>
            <a:ext cx="2925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attribute . test at (below / at / above)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457200" y="393192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chemeClr val="accent5"/>
                </a:solidFill>
                <a:latin typeface="Calibri"/>
              </a:rPr>
              <a:t>Sync rule: every cell_id appears once in the core, once in its dimension and once in the inventory.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4846320" y="10058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Calibri"/>
              </a:rPr>
              <a:t>One cell, followed through all three parts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4846320" y="1353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accent2"/>
                </a:solidFill>
                <a:latin typeface="Courier New"/>
                <a:ea typeface="Courier New"/>
              </a:rPr>
              <a:t>E2E.F01.web-ui.negative.add-duplicate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1"/>
          <p:cNvSpPr/>
          <p:nvPr/>
        </p:nvSpPr>
        <p:spPr>
          <a:xfrm>
            <a:off x="4846320" y="1737360"/>
            <a:ext cx="3840120" cy="95976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4983480" y="181044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Core: the test case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4983480" y="2066400"/>
            <a:ext cx="35658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Precondition: admin logged in, "Cardiology" exists. Step: add "Cardiology" again → rejected with a message. Expected: only one "Cardiology" exists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4"/>
          <p:cNvSpPr/>
          <p:nvPr/>
        </p:nvSpPr>
        <p:spPr>
          <a:xfrm>
            <a:off x="4846320" y="2788920"/>
            <a:ext cx="384012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5"/>
          <p:cNvSpPr/>
          <p:nvPr/>
        </p:nvSpPr>
        <p:spPr>
          <a:xfrm>
            <a:off x="4983480" y="286200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D1: what kind of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4983480" y="311796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flow F01 (speciality), flow_type rejected, interface web-ui, input_class negative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7"/>
          <p:cNvSpPr/>
          <p:nvPr/>
        </p:nvSpPr>
        <p:spPr>
          <a:xfrm>
            <a:off x="4846320" y="3657600"/>
            <a:ext cx="3840120" cy="68544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8"/>
          <p:cNvSpPr/>
          <p:nvPr/>
        </p:nvSpPr>
        <p:spPr>
          <a:xfrm>
            <a:off x="4983480" y="3730680"/>
            <a:ext cx="3565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chemeClr val="dk2"/>
                </a:solidFill>
                <a:latin typeface="Calibri"/>
              </a:rPr>
              <a:t>Inventory: what it covers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9"/>
          <p:cNvSpPr/>
          <p:nvPr/>
        </p:nvSpPr>
        <p:spPr>
          <a:xfrm>
            <a:off x="4983480" y="398664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Duplicate speciality is rejected. req_refs: Req-1/1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6"/>
          </p:nvPr>
        </p:nvSpPr>
        <p:spPr>
          <a:xfrm>
            <a:off x="8321040" y="4754880"/>
            <a:ext cx="36540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5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3CD0B9-B16C-40C9-A917-4744AC0664C6}" type="slidenum">
              <a:rPr b="0" lang="en-US" sz="1000" spc="-1" strike="noStrike">
                <a:solidFill>
                  <a:schemeClr val="accent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2"/>
                </a:solidFill>
                <a:latin typeface="Cambria"/>
              </a:rPr>
              <a:t>Template 2: Excel system-level sheet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45720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5720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149508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149508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name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253296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53296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reqs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357084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357084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pre-condition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9"/>
          <p:cNvSpPr/>
          <p:nvPr/>
        </p:nvSpPr>
        <p:spPr>
          <a:xfrm>
            <a:off x="460872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460872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test steps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564660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564660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expected result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668412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668412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post-condition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7722000" y="1051560"/>
            <a:ext cx="959760" cy="41112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rgbClr val="0e7c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7722000" y="1051560"/>
            <a:ext cx="959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chemeClr val="lt1"/>
                </a:solidFill>
                <a:latin typeface="Calibri"/>
              </a:rPr>
              <a:t>use case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>
            <a:off x="457200" y="1737360"/>
            <a:ext cx="4023000" cy="29257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40080" y="18745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3"/>
                </a:solidFill>
                <a:latin typeface="Calibri"/>
              </a:rPr>
              <a:t>Strengths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640080" y="228600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Easy for people to read and review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Traces to Req, BR and use case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Separates expected result from postcondition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Has its own methodology sheet: happy, negative, boundary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4663440" y="1737360"/>
            <a:ext cx="4023000" cy="29257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eef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4846320" y="18745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6"/>
                </a:solidFill>
                <a:latin typeface="Calibri"/>
              </a:rPr>
              <a:t>Gaps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4846320" y="2286000"/>
            <a:ext cx="3657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No coverage items or denominator, so coverage cannot be measured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No test data column; values like Z1 and "invalid data" stay vague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f2a30"/>
              </a:buClr>
              <a:buFont typeface="Symbol" charset="2"/>
              <a:buChar char=""/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7"/>
          </p:nvPr>
        </p:nvSpPr>
        <p:spPr>
          <a:xfrm>
            <a:off x="8321040" y="4754880"/>
            <a:ext cx="36540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000" spc="-1" strike="noStrike">
                <a:solidFill>
                  <a:schemeClr val="accent5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9B1010-AE04-4868-8B27-316ED95C77C4}" type="slidenum">
              <a:rPr b="0" lang="en-US" sz="1000" spc="-1" strike="noStrike">
                <a:solidFill>
                  <a:schemeClr val="accent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T Templates">
  <a:themeElements>
    <a:clrScheme name="GT Templates">
      <a:dk1>
        <a:srgbClr val="1f2a30"/>
      </a:dk1>
      <a:lt1>
        <a:srgbClr val="ffffff"/>
      </a:lt1>
      <a:dk2>
        <a:srgbClr val="0e4d5c"/>
      </a:dk2>
      <a:lt2>
        <a:srgbClr val="eef4f4"/>
      </a:lt2>
      <a:accent1>
        <a:srgbClr val="0e7c86"/>
      </a:accent1>
      <a:accent2>
        <a:srgbClr val="e07a3f"/>
      </a:accent2>
      <a:accent3>
        <a:srgbClr val="6b8f71"/>
      </a:accent3>
      <a:accent4>
        <a:srgbClr val="c9d9d9"/>
      </a:accent4>
      <a:accent5>
        <a:srgbClr val="8a9ba3"/>
      </a:accent5>
      <a:accent6>
        <a:srgbClr val="b23a48"/>
      </a:accent6>
      <a:hlink>
        <a:srgbClr val="0e7c86"/>
      </a:hlink>
      <a:folHlink>
        <a:srgbClr val="6b8f71"/>
      </a:folHlink>
    </a:clrScheme>
    <a:fontScheme name="GT Templat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T Templates">
  <a:themeElements>
    <a:clrScheme name="GT Templates">
      <a:dk1>
        <a:srgbClr val="1f2a30"/>
      </a:dk1>
      <a:lt1>
        <a:srgbClr val="ffffff"/>
      </a:lt1>
      <a:dk2>
        <a:srgbClr val="0e4d5c"/>
      </a:dk2>
      <a:lt2>
        <a:srgbClr val="eef4f4"/>
      </a:lt2>
      <a:accent1>
        <a:srgbClr val="0e7c86"/>
      </a:accent1>
      <a:accent2>
        <a:srgbClr val="e07a3f"/>
      </a:accent2>
      <a:accent3>
        <a:srgbClr val="6b8f71"/>
      </a:accent3>
      <a:accent4>
        <a:srgbClr val="c9d9d9"/>
      </a:accent4>
      <a:accent5>
        <a:srgbClr val="8a9ba3"/>
      </a:accent5>
      <a:accent6>
        <a:srgbClr val="b23a48"/>
      </a:accent6>
      <a:hlink>
        <a:srgbClr val="0e7c86"/>
      </a:hlink>
      <a:folHlink>
        <a:srgbClr val="6b8f71"/>
      </a:folHlink>
    </a:clrScheme>
    <a:fontScheme name="GT Templates">
      <a:majorFont>
        <a:latin typeface="Cambr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2026-10-29T03:00:03Z</dcterms:created>
  <dc:creator>PptxGenJS</dc:creator>
  <dc:description/>
  <dc:language>en-US</dc:language>
  <cp:lastModifiedBy/>
  <dcterms:modified xsi:type="dcterms:W3CDTF">2026-10-29T08:32:16Z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